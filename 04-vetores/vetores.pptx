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Gancho: 'ontem vocês usaram para pra repetir ações. E se precisassem guardar todos os valores, não só processar um por vez?' Planta a dor antes de mostrar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dois no VisuAlg. Pergunte: 'e se fossem 100 notas?' O sem-vetor quebra. O com-vetor só muda o 5 pra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Pense em gavetas numeradas: o nome é a cômoda, o índice é o número da gaveta. Reforce: notas[0] não existe se você declarou [1..5] — essa é a origem do erro de posição mais comum.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Reforce: declarar o vetor não preenche nada — só reserva o espaço. Mostrar que notas[1] ainda não tem valor definido até o leia.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devagar no VisuAlg: avance F8 e aponte que notas[i] muda conforme i avança. O insight central é que i é o endereço, não um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diferença fundamental: sem vetor, cada nova leitura sobrescreve `nota`. Com vetor, notas[1] ainda existe depois que notas[2] foi lido. Isso é o que permite percorrer mais de uma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o erro 1 ao vivo: declare [1..5] e tente acessar notas[0] — o VisuAlg vai dar erro de runtime. A reação deles ao erro real é mais eficaz que só avisar.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imprime 9 — terceira posição do vetor. O objetivo é fixar que o índice é o endereço, não a ordem de leitura. Deixe eles responderem antes de avançar.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desta questão é mostrar que o vetor guarda — você pode percorrer de novo. Quem usa uma variável simples não consegue fazer isso. Se terminarem cedo, peça que mostrem os números em ordem inversa (para i de 5 ate 1 passo -1).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maior &lt;- notas[1] é o ponto que mais confunde. Demonstre o bug: coloque maior &lt;- 0 e use notas negativas — maior nunca muda. Com notas[1], o primeiro valor já é um candidato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esqueleto do Ex3 do deck de para — mas agora com notas[i] em vez de nota. O objetivo é mostrar que acumulador + contador funcionam igual, só que acessando posições do vetor.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variáveis acumulando ao mesmo tempo: soma, cont, maior, menor. O desafio é lembrar que maior e menor começam em notas[1], não em 0 e 999. Se ficarem travados, sugira inicializar os dois com notas[1] antes do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 linha a linha:
i=1: notas[1]=8, soma=8,  cont=1, maior=8, menor=8
i=2: notas[2]=5, soma=13, cont=1, maior=8, menor=5
i=3: notas[3]=9, soma=22, cont=2, maior=9, menor=5
i=4: notas[4]=6, soma=28, cont=2, maior=9, menor=5
i=5: notas[5]=7, soma=35, cont=3, maior=9, menor=5
fim: média=35/5=7,0 · aprovados=3 · maior=9 · menor=5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fechamento: 'vocês começaram a aula com nota e nota2 e nota3. Saem com notas[i] — um nome, qualquer tamanho.' Isso resume o salto conceitual do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5720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>
                    <a:alpha val="9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 ·  PORTUGOL  ·  VETORES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Vetores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variável só já não dá conta.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nome. Várias posições. O para percorre tudo.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DO PARA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que o vetor resolve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3017520"/>
          </a:xfrm>
          <a:prstGeom prst="roundRect">
            <a:avLst>
              <a:gd name="adj" fmla="val 2727"/>
            </a:avLst>
          </a:prstGeom>
          <a:solidFill>
            <a:srgbClr val="FCECE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3474720" cy="2331720"/>
          </a:xfrm>
          <a:prstGeom prst="roundRect">
            <a:avLst>
              <a:gd name="adj" fmla="val 2745"/>
            </a:avLst>
          </a:prstGeom>
          <a:solidFill>
            <a:srgbClr val="1E20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30175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nota1 &lt;- 8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nota2 &lt;- 5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nota3 &lt;- 9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nota4 &lt;- 6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nota5 &lt;- 7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&lt;- (nota1+nota2+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nota3+nota4+nota5)/5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4526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pra 5. Vira bagunça pra 30.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3931920" cy="3017520"/>
          </a:xfrm>
          <a:prstGeom prst="roundRect">
            <a:avLst>
              <a:gd name="adj" fmla="val 272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VETOR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2121408"/>
            <a:ext cx="3474720" cy="2331720"/>
          </a:xfrm>
          <a:prstGeom prst="roundRect">
            <a:avLst>
              <a:gd name="adj" fmla="val 2745"/>
            </a:avLst>
          </a:prstGeom>
          <a:solidFill>
            <a:srgbClr val="1E2044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286000"/>
            <a:ext cx="30175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leia(notas[i])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&lt;- soma + notas[i]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4526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nome. Qualquer tamanho.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Vetor é uma coleção de posições com um nome só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1691640"/>
            <a:ext cx="1234440" cy="914400"/>
          </a:xfrm>
          <a:prstGeom prst="roundRect">
            <a:avLst>
              <a:gd name="adj" fmla="val 7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17830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097280" y="235000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6B3FA0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350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41448" y="1691640"/>
            <a:ext cx="1234440" cy="914400"/>
          </a:xfrm>
          <a:prstGeom prst="roundRect">
            <a:avLst>
              <a:gd name="adj" fmla="val 7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41448" y="17830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2441448" y="235000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6B3FA0"/>
          </a:solidFill>
          <a:ln/>
        </p:spPr>
      </p:sp>
      <p:sp>
        <p:nvSpPr>
          <p:cNvPr id="12" name="Text 9"/>
          <p:cNvSpPr/>
          <p:nvPr/>
        </p:nvSpPr>
        <p:spPr>
          <a:xfrm>
            <a:off x="2441448" y="2350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85616" y="1691640"/>
            <a:ext cx="1234440" cy="914400"/>
          </a:xfrm>
          <a:prstGeom prst="roundRect">
            <a:avLst>
              <a:gd name="adj" fmla="val 7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785616" y="17830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3785616" y="235000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6B3FA0"/>
          </a:solidFill>
          <a:ln/>
        </p:spPr>
      </p:sp>
      <p:sp>
        <p:nvSpPr>
          <p:cNvPr id="16" name="Text 13"/>
          <p:cNvSpPr/>
          <p:nvPr/>
        </p:nvSpPr>
        <p:spPr>
          <a:xfrm>
            <a:off x="3785616" y="2350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29784" y="1691640"/>
            <a:ext cx="1234440" cy="914400"/>
          </a:xfrm>
          <a:prstGeom prst="roundRect">
            <a:avLst>
              <a:gd name="adj" fmla="val 7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129784" y="17830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5129784" y="235000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6B3FA0"/>
          </a:solidFill>
          <a:ln/>
        </p:spPr>
      </p:sp>
      <p:sp>
        <p:nvSpPr>
          <p:cNvPr id="20" name="Text 17"/>
          <p:cNvSpPr/>
          <p:nvPr/>
        </p:nvSpPr>
        <p:spPr>
          <a:xfrm>
            <a:off x="5129784" y="2350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73952" y="1691640"/>
            <a:ext cx="1234440" cy="914400"/>
          </a:xfrm>
          <a:prstGeom prst="roundRect">
            <a:avLst>
              <a:gd name="adj" fmla="val 7000"/>
            </a:avLst>
          </a:prstGeom>
          <a:solidFill>
            <a:srgbClr val="F2EEF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73952" y="17830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6473952" y="2350008"/>
            <a:ext cx="1234440" cy="256032"/>
          </a:xfrm>
          <a:prstGeom prst="roundRect">
            <a:avLst>
              <a:gd name="adj" fmla="val 14286"/>
            </a:avLst>
          </a:prstGeom>
          <a:solidFill>
            <a:srgbClr val="6B3FA0"/>
          </a:solidFill>
          <a:ln/>
        </p:spPr>
      </p:sp>
      <p:sp>
        <p:nvSpPr>
          <p:cNvPr id="24" name="Text 21"/>
          <p:cNvSpPr/>
          <p:nvPr/>
        </p:nvSpPr>
        <p:spPr>
          <a:xfrm>
            <a:off x="6473952" y="23500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28600" y="19202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A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97280" y="2679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índice / posição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97280" y="3017520"/>
            <a:ext cx="3840480" cy="438912"/>
          </a:xfrm>
          <a:prstGeom prst="roundRect">
            <a:avLst>
              <a:gd name="adj" fmla="val 14583"/>
            </a:avLst>
          </a:prstGeom>
          <a:solidFill>
            <a:srgbClr val="FCECEB"/>
          </a:solidFill>
          <a:ln/>
        </p:spPr>
      </p:sp>
      <p:sp>
        <p:nvSpPr>
          <p:cNvPr id="28" name="Text 25"/>
          <p:cNvSpPr/>
          <p:nvPr/>
        </p:nvSpPr>
        <p:spPr>
          <a:xfrm>
            <a:off x="1325880" y="30175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notas[1]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200400" y="30175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97280" y="3547872"/>
            <a:ext cx="3840480" cy="438912"/>
          </a:xfrm>
          <a:prstGeom prst="roundRect">
            <a:avLst>
              <a:gd name="adj" fmla="val 14583"/>
            </a:avLst>
          </a:prstGeom>
          <a:solidFill>
            <a:srgbClr val="F3F4FA"/>
          </a:solidFill>
          <a:ln/>
        </p:spPr>
      </p:sp>
      <p:sp>
        <p:nvSpPr>
          <p:cNvPr id="31" name="Text 28"/>
          <p:cNvSpPr/>
          <p:nvPr/>
        </p:nvSpPr>
        <p:spPr>
          <a:xfrm>
            <a:off x="1325880" y="354787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C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notas[2]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200400" y="35478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1097280" y="4078224"/>
            <a:ext cx="3840480" cy="438912"/>
          </a:xfrm>
          <a:prstGeom prst="roundRect">
            <a:avLst>
              <a:gd name="adj" fmla="val 14583"/>
            </a:avLst>
          </a:prstGeom>
          <a:solidFill>
            <a:srgbClr val="F3F4FA"/>
          </a:solidFill>
          <a:ln/>
        </p:spPr>
      </p:sp>
      <p:sp>
        <p:nvSpPr>
          <p:cNvPr id="34" name="Text 31"/>
          <p:cNvSpPr/>
          <p:nvPr/>
        </p:nvSpPr>
        <p:spPr>
          <a:xfrm>
            <a:off x="1325880" y="40782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F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notas[3]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200400" y="407822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9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097280" y="46451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escolhe qual posição será usada.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DECLARAR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Avisamos o tamanho e o tipo antes de usar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4572000" cy="1737360"/>
          </a:xfrm>
          <a:prstGeom prst="roundRect">
            <a:avLst>
              <a:gd name="adj" fmla="val 3684"/>
            </a:avLst>
          </a:prstGeom>
          <a:solidFill>
            <a:srgbClr val="1E204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719072"/>
            <a:ext cx="41148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A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notas: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vetor[1..5] de real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i: inteiro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soma, media: real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557016"/>
            <a:ext cx="347472" cy="347472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5840" y="35204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 reservada — diz que é um vetor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123944"/>
            <a:ext cx="347472" cy="347472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[1..5]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" y="408736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posições: começa em 1, termina em 5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690872"/>
            <a:ext cx="347472" cy="347472"/>
          </a:xfrm>
          <a:prstGeom prst="ellipse">
            <a:avLst/>
          </a:prstGeom>
          <a:solidFill>
            <a:srgbClr val="1A7F5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real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05840" y="465429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cada posição (pode ser inteiro, real, caractere)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40680" y="1691640"/>
            <a:ext cx="3154680" cy="3200400"/>
          </a:xfrm>
          <a:prstGeom prst="roundRect">
            <a:avLst>
              <a:gd name="adj" fmla="val 2609"/>
            </a:avLst>
          </a:prstGeom>
          <a:solidFill>
            <a:srgbClr val="F2EEF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7452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35040" y="1874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Pense assim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669280" y="228600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notas[1]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notas[2]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notas[3]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notas[4]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notas[5]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5 variáveis com um nome só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O VETOR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para controla a posição que está sendo preenchida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4572000" cy="1572768"/>
          </a:xfrm>
          <a:prstGeom prst="roundRect">
            <a:avLst>
              <a:gd name="adj" fmla="val 4070"/>
            </a:avLst>
          </a:prstGeom>
          <a:solidFill>
            <a:srgbClr val="1E204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673352"/>
            <a:ext cx="4114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escreva("Nota ",i,": ")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leia(notas[i])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4572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posição preenchida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notas[1]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notas[2]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notas[3]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notas[4]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notas[5]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40680" y="1691640"/>
            <a:ext cx="3154680" cy="3200400"/>
          </a:xfrm>
          <a:prstGeom prst="roundRect">
            <a:avLst>
              <a:gd name="adj" fmla="val 2609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7452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35040" y="1874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a posição?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669280" y="228600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i muda a cada volta do para.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volta 1: i=1 → notas[1].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volta 3: i=3 → notas[3].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para, precisaríamos de 5 leia separados.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DIRETA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vetor processa e esquece. Com vetor guarda.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3931920" cy="3017520"/>
          </a:xfrm>
          <a:prstGeom prst="roundRect">
            <a:avLst>
              <a:gd name="adj" fmla="val 2727"/>
            </a:avLst>
          </a:prstGeom>
          <a:solidFill>
            <a:srgbClr val="FCECE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VETOR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2121408"/>
            <a:ext cx="3474720" cy="2331720"/>
          </a:xfrm>
          <a:prstGeom prst="roundRect">
            <a:avLst>
              <a:gd name="adj" fmla="val 2745"/>
            </a:avLst>
          </a:prstGeom>
          <a:solidFill>
            <a:srgbClr val="1E2044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286000"/>
            <a:ext cx="30175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&lt;- 0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&lt;- soma + nota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4526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guarda só o valor atual — esquece o anterior.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3931920" cy="3017520"/>
          </a:xfrm>
          <a:prstGeom prst="roundRect">
            <a:avLst>
              <a:gd name="adj" fmla="val 2727"/>
            </a:avLst>
          </a:prstGeom>
          <a:solidFill>
            <a:srgbClr val="E8F5E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204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VETOR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92040" y="2121408"/>
            <a:ext cx="3474720" cy="2331720"/>
          </a:xfrm>
          <a:prstGeom prst="roundRect">
            <a:avLst>
              <a:gd name="adj" fmla="val 2745"/>
            </a:avLst>
          </a:prstGeom>
          <a:solidFill>
            <a:srgbClr val="1E2044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2286000"/>
            <a:ext cx="30175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leia(notas[i])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E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posso usar notas[i]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E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quantas vezes quiser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92040" y="4526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notas[i] guarda cada valor — posso consultar depois.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CLÁSSICO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maioria dos bugs em vetor é erro de posição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CECE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ÍNDICE FORA DO RANGE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1655064"/>
            <a:ext cx="2103120" cy="749808"/>
          </a:xfrm>
          <a:prstGeom prst="roundRect">
            <a:avLst>
              <a:gd name="adj" fmla="val 6098"/>
            </a:avLst>
          </a:prstGeom>
          <a:solidFill>
            <a:srgbClr val="1E2044"/>
          </a:solidFill>
          <a:ln/>
        </p:spPr>
      </p:sp>
      <p:sp>
        <p:nvSpPr>
          <p:cNvPr id="8" name="Text 5"/>
          <p:cNvSpPr/>
          <p:nvPr/>
        </p:nvSpPr>
        <p:spPr>
          <a:xfrm>
            <a:off x="3337560" y="16916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notas[0]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notas[6]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40680" y="167335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declarou [1..5], só existem posições 1 até 5.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[0] ou [6] causa erro de execução.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ESQUECER O PARA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2752344"/>
            <a:ext cx="2103120" cy="749808"/>
          </a:xfrm>
          <a:prstGeom prst="roundRect">
            <a:avLst>
              <a:gd name="adj" fmla="val 6098"/>
            </a:avLst>
          </a:prstGeom>
          <a:solidFill>
            <a:srgbClr val="1E2044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278892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leia(notas[1])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leia(notas[2])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leia(notas[3])...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40680" y="277063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é repetição por posição, use loop.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para, o vetor perde o sentido.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79476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F2EEF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NÃO TESTAR O ÍNDICE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0" y="3849624"/>
            <a:ext cx="2103120" cy="749808"/>
          </a:xfrm>
          <a:prstGeom prst="roundRect">
            <a:avLst>
              <a:gd name="adj" fmla="val 6098"/>
            </a:avLst>
          </a:prstGeom>
          <a:solidFill>
            <a:srgbClr val="1E2044"/>
          </a:solidFill>
          <a:ln/>
        </p:spPr>
      </p:sp>
      <p:sp>
        <p:nvSpPr>
          <p:cNvPr id="18" name="Text 15"/>
          <p:cNvSpPr/>
          <p:nvPr/>
        </p:nvSpPr>
        <p:spPr>
          <a:xfrm>
            <a:off x="3337560" y="388620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notas[i]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quanto vale i?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40680" y="3867912"/>
            <a:ext cx="3017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faça teste de mesa antes de rodar.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 errado lê a posição errada silenciosamente.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 · PREENCHA ANTES DE RODAR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mesa com vetor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Entradas: 8, 5, 9, 6, 7. O que será escrito?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1901952"/>
            <a:ext cx="3931920" cy="1874520"/>
          </a:xfrm>
          <a:prstGeom prst="roundRect">
            <a:avLst>
              <a:gd name="adj" fmla="val 3415"/>
            </a:avLst>
          </a:prstGeom>
          <a:solidFill>
            <a:srgbClr val="1E204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66544"/>
            <a:ext cx="3474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leia(notas[i])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escreval(notas[3])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755648"/>
          <a:ext cx="3886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88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notas[i] recebe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93192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CECEB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393192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escreval(notas[3]) imprime? Por que não imprime notas[1]?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 · 10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 5 números e mostrar todos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36192"/>
            <a:ext cx="4663440" cy="3154680"/>
          </a:xfrm>
          <a:prstGeom prst="roundRect">
            <a:avLst>
              <a:gd name="adj" fmla="val 2609"/>
            </a:avLst>
          </a:prstGeom>
          <a:solidFill>
            <a:srgbClr val="E8F5E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vetor de 5 inteiros.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os 5 números com um para.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outro para, mostre os 5 números.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 mostrar são dois momentos separados.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40680" y="1664208"/>
            <a:ext cx="3154680" cy="2944368"/>
          </a:xfrm>
          <a:prstGeom prst="roundRect">
            <a:avLst>
              <a:gd name="adj" fmla="val 2795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470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18470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esperada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0" y="2286000"/>
            <a:ext cx="2743200" cy="2148840"/>
          </a:xfrm>
          <a:prstGeom prst="roundRect">
            <a:avLst>
              <a:gd name="adj" fmla="val 2979"/>
            </a:avLst>
          </a:prstGeom>
          <a:solidFill>
            <a:srgbClr val="1E2044"/>
          </a:solidFill>
          <a:ln/>
        </p:spPr>
      </p:sp>
      <p:sp>
        <p:nvSpPr>
          <p:cNvPr id="12" name="Text 8"/>
          <p:cNvSpPr/>
          <p:nvPr/>
        </p:nvSpPr>
        <p:spPr>
          <a:xfrm>
            <a:off x="5897880" y="2450592"/>
            <a:ext cx="228600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leia(nums[i])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escreval(nums[i])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PROCESSANDO O VETOR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Acumulador e contador com posições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3931920" cy="2514600"/>
          </a:xfrm>
          <a:prstGeom prst="roundRect">
            <a:avLst>
              <a:gd name="adj" fmla="val 3273"/>
            </a:avLst>
          </a:prstGeom>
          <a:solidFill>
            <a:srgbClr val="E8F5EE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ACUMULADOR COM VETOR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2121408"/>
            <a:ext cx="3474720" cy="1828800"/>
          </a:xfrm>
          <a:prstGeom prst="roundRect">
            <a:avLst>
              <a:gd name="adj" fmla="val 3500"/>
            </a:avLst>
          </a:prstGeom>
          <a:solidFill>
            <a:srgbClr val="1E2044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286000"/>
            <a:ext cx="30175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&lt;- 0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&lt;- soma + notas[i]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&lt;- soma / 5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4023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trocamos nota por notas[i].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3931920" cy="2514600"/>
          </a:xfrm>
          <a:prstGeom prst="roundRect">
            <a:avLst>
              <a:gd name="adj" fmla="val 3273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9204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NOTA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92040" y="2121408"/>
            <a:ext cx="3474720" cy="1828800"/>
          </a:xfrm>
          <a:prstGeom prst="roundRect">
            <a:avLst>
              <a:gd name="adj" fmla="val 3500"/>
            </a:avLst>
          </a:prstGeom>
          <a:solidFill>
            <a:srgbClr val="1E2044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0" y="2286000"/>
            <a:ext cx="30175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25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 &lt;- notas[1]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2 ate 5 faca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notas[i]&gt;maior entao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maior &lt;- notas[i]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fimse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92040" y="4023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em notas[1], não em 0.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407408"/>
            <a:ext cx="8046720" cy="457200"/>
          </a:xfrm>
          <a:prstGeom prst="roundRect">
            <a:avLst>
              <a:gd name="adj" fmla="val 14000"/>
            </a:avLst>
          </a:prstGeom>
          <a:solidFill>
            <a:srgbClr val="F2EEF9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4074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maior começa em notas[1] e não em 0?  </a:t>
            </a:r>
            <a:pPr indent="0" marL="0">
              <a:buNone/>
            </a:pPr>
            <a:r>
              <a:rPr lang="en-US" sz="130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0 pode ser menor que todas as notas reais — e aí maior nunca atualiza.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 · 15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Notas: média e aprovados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36192"/>
            <a:ext cx="4663440" cy="2834640"/>
          </a:xfrm>
          <a:prstGeom prst="roundRect">
            <a:avLst>
              <a:gd name="adj" fmla="val 2903"/>
            </a:avLst>
          </a:prstGeom>
          <a:solidFill>
            <a:srgbClr val="FCECE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4206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5 notas em um vetor.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 média da turma.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 quantos foram aprovados (&gt;= 7).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média e quantidade de aprovados.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 único loop de percurso.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40680" y="1664208"/>
            <a:ext cx="3154680" cy="2743200"/>
          </a:xfrm>
          <a:prstGeom prst="roundRect">
            <a:avLst>
              <a:gd name="adj" fmla="val 3000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470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18470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0" y="2240280"/>
            <a:ext cx="2743200" cy="2057400"/>
          </a:xfrm>
          <a:prstGeom prst="roundRect">
            <a:avLst>
              <a:gd name="adj" fmla="val 3111"/>
            </a:avLst>
          </a:prstGeom>
          <a:solidFill>
            <a:srgbClr val="1E2044"/>
          </a:solidFill>
          <a:ln/>
        </p:spPr>
      </p:sp>
      <p:sp>
        <p:nvSpPr>
          <p:cNvPr id="12" name="Text 8"/>
          <p:cNvSpPr/>
          <p:nvPr/>
        </p:nvSpPr>
        <p:spPr>
          <a:xfrm>
            <a:off x="5897880" y="2404872"/>
            <a:ext cx="22860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 &lt;- 0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 &lt;- 0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&lt;- soma+notas[i]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notas[i]&gt;=7 entao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 &lt;- cont+1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fimse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 · 25 MIN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Vetor completo: média, aprovados, maior e menor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36192"/>
            <a:ext cx="4663440" cy="3017520"/>
          </a:xfrm>
          <a:prstGeom prst="roundRect">
            <a:avLst>
              <a:gd name="adj" fmla="val 2727"/>
            </a:avLst>
          </a:prstGeom>
          <a:solidFill>
            <a:srgbClr val="F3F4FA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19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42062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5 notas em um vetor.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e mostre a média da turma.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quantos foram aprovados.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a maior nota.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a menor nota.</a:t>
            </a:r>
            <a:endParaRPr lang="en-US" sz="1350" dirty="0"/>
          </a:p>
          <a:p>
            <a:pPr marL="342900" indent="-3429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 único loop.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40680" y="1664208"/>
            <a:ext cx="3154680" cy="2926080"/>
          </a:xfrm>
          <a:prstGeom prst="roundRect">
            <a:avLst>
              <a:gd name="adj" fmla="val 2813"/>
            </a:avLst>
          </a:prstGeom>
          <a:solidFill>
            <a:srgbClr val="FCECE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470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18470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5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Dica: maior e menor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669280" y="2240280"/>
            <a:ext cx="2743200" cy="2212848"/>
          </a:xfrm>
          <a:prstGeom prst="roundRect">
            <a:avLst>
              <a:gd name="adj" fmla="val 2893"/>
            </a:avLst>
          </a:prstGeom>
          <a:solidFill>
            <a:srgbClr val="1E2044"/>
          </a:solidFill>
          <a:ln/>
        </p:spPr>
      </p:sp>
      <p:sp>
        <p:nvSpPr>
          <p:cNvPr id="12" name="Text 8"/>
          <p:cNvSpPr/>
          <p:nvPr/>
        </p:nvSpPr>
        <p:spPr>
          <a:xfrm>
            <a:off x="5897880" y="2404872"/>
            <a:ext cx="22860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 &lt;- notas[1]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menor &lt;- notas[1]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 de 1 ate 5 faca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soma &lt;- soma+notas[i]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E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notas[i]&gt;=7 ...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E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notas[i]&gt;maior ...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E8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 notas[i]&lt;menor ...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6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fimpara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 · CONFIRAM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26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mesa — Exercício 3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420624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Entradas: 8, 5, 9, 6, 7. Preencha cada coluna a cada volta.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80467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1005840"/>
                <a:gridCol w="914400"/>
                <a:gridCol w="1325880"/>
                <a:gridCol w="13258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notas[i]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início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notas[1]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notas[1]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Gabarito: média=7,0 · aprovados=3 · maior=9 · menor=5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de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2834640"/>
          </a:xfrm>
          <a:prstGeom prst="roundRect">
            <a:avLst>
              <a:gd name="adj" fmla="val 2903"/>
            </a:avLst>
          </a:prstGeom>
          <a:solidFill>
            <a:srgbClr val="2A2C5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6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5720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guarda vários valores num nome só.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escolhe a posição.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percorre o vetor.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Acumulador e contador funcionam igual — só trocamos nota por notas[i].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 e menor começam em notas[1], não em 0.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2304288"/>
            <a:ext cx="27432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diferença entre nota e notas[i]?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 o índice?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maior começa em notas[1]?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se acessar notas[0]?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vetor, o para deixou de repetir ações — passou a percorrer memória.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Vetores</dc:title>
  <dc:subject>PptxGenJS Presentation</dc:subject>
  <dc:creator>Lucas</dc:creator>
  <cp:lastModifiedBy>Lucas</cp:lastModifiedBy>
  <cp:revision>1</cp:revision>
  <dcterms:created xsi:type="dcterms:W3CDTF">2026-06-26T16:34:51Z</dcterms:created>
  <dcterms:modified xsi:type="dcterms:W3CDTF">2026-06-26T16:34:51Z</dcterms:modified>
</cp:coreProperties>
</file>