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206240" cy="4206240"/>
          </a:xfrm>
          <a:prstGeom prst="ellipse">
            <a:avLst/>
          </a:prstGeom>
          <a:solidFill>
            <a:srgbClr val="FF6B5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108960"/>
            <a:ext cx="3840480" cy="3840480"/>
          </a:xfrm>
          <a:prstGeom prst="ellipse">
            <a:avLst/>
          </a:prstGeom>
          <a:solidFill>
            <a:srgbClr val="3ECF8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Estruturados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variáveis soltas para uma única entidade: o registro.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soltas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informação vive isolada. Nada indica que elas pertencem à mesma pessoa.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341985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nome1 &lt;- "Ana"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idade1 &lt;- 16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 &lt;- 8.5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nome2 &lt;- "Bruno"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idade2 &lt;- 17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 &lt;- 6.0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54880" y="2084832"/>
            <a:ext cx="3840480" cy="2331720"/>
          </a:xfrm>
          <a:prstGeom prst="roundRect">
            <a:avLst>
              <a:gd name="adj" fmla="val 3529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dá errado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269748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variáveis viram numeração infinita (nome1, nome2, nome3...)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trocar idade1 com nota2 sem perceber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escala: e se forem 30 alunos?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paralelos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que variáveis soltas, mas o vínculo entre os dados ainda é só uma promessa.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nomes[]  &lt;- {"Ana", "Bruno", "Caio"}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idades[] &lt;- {16, 17, 15}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notas[]  &lt;- {8.5, 6.0, 9.2}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8046720" cy="1051560"/>
          </a:xfrm>
          <a:prstGeom prst="roundRect">
            <a:avLst>
              <a:gd name="adj" fmla="val 7826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7307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de UM aluno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espalhado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três vetores diferentes. A ligação entre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nomes[0]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idades[0]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notas[0]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existe só na cabeça de quem programou.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3ECF8E">
              <a:alpha val="18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o que pertence junto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nome, idade e nota são sempre do mesmo aluno, por que guardá-los separados?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nome1, nome2, ...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paralelos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invisível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24528" y="3063240"/>
            <a:ext cx="694944" cy="69494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4224528" y="304495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registro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72491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entidade: Aluno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campos dentro dela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garantido pela estrutura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estrutura que agrupa vários dados relacionados sob um único nome.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591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</a:t>
            </a:r>
            <a:pPr indent="0" marL="0">
              <a:buNone/>
            </a:pPr>
            <a:r>
              <a:rPr lang="en-US" sz="13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substantivo
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jeito de dizer: “isso aqui não são três coisas soltas, é UMA coisa com três informações dentro.”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informação dentro do registro é chamada de campo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campos de um registro pertencem à mesma entidade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coisa, vários campos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0" y="160020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600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0" cy="502920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80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6B5B">
              <a:alpha val="1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96512" y="2377440"/>
            <a:ext cx="0" cy="502920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2880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5B84C">
              <a:alpha val="15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2377440"/>
            <a:ext cx="0" cy="502920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880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3ECF8E">
              <a:alpha val="15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046720" cy="1143000"/>
          </a:xfrm>
          <a:prstGeom prst="roundRect">
            <a:avLst>
              <a:gd name="adj" fmla="val 7200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8503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guarda um tipo de dado (texto, número...), mas todos vivem dentro da mesma caixa: o registro Aluno.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registro Aluno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Definindo a estrutura antes de usá-la.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1965960"/>
          </a:xfrm>
          <a:prstGeom prst="roundRect">
            <a:avLst>
              <a:gd name="adj" fmla="val 372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 = registro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caractere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 inteiro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media: real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13846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206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cria um novo formato de dado — a partir de agora, </a:t>
            </a:r>
            <a:pPr indent="0" marL="0">
              <a:buNone/>
            </a:pPr>
            <a:r>
              <a:rPr lang="en-US" sz="13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tipo, igual inteiro ou caractere.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Acessando campos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(.) liga a variável ao campo dentro dela.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aluno: Aluno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aluno.nome  &lt;- "Ana"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aluno.idade &lt;- 16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aluno.media &lt;- 8.5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8046720" cy="502920"/>
          </a:xfrm>
          <a:prstGeom prst="roundRect">
            <a:avLst>
              <a:gd name="adj" fmla="val 16364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variável</a:t>
            </a:r>
            <a:pPr algn="ctr" indent="0" marL="0">
              <a:buNone/>
            </a:pPr>
            <a:r>
              <a:rPr lang="en-US" sz="14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  </a:t>
            </a:r>
            <a:pPr algn="ctr" indent="0" marL="0">
              <a:buNone/>
            </a:pPr>
            <a:r>
              <a:rPr lang="en-US" sz="1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pPr algn="ctr"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—   sempre nessa ordem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dados para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leia() funciona campo por campo, como já funcionava com variáveis comuns.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2788920"/>
          </a:xfrm>
          <a:prstGeom prst="roundRect">
            <a:avLst>
              <a:gd name="adj" fmla="val 2623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aluno: Aluno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escreva("Nome: ")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leia(aluno.nome)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escreva("Idade: ")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leia(aluno.idade)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escreva("Média: ")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leia(aluno.media)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Mostrando dados de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escreva() também acessa campo por campo.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escreva("Aluno: ", aluno.nome)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escreva("Idade: ", aluno.idade)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escreva("Média: ", aluno.media)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7673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comando mágico que mostre o registro inteiro de uma vez.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imprime campo a campo — assim como preencheu campo a campo.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registros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vetor não precisa guardar só números ou textos — pode guardar registros inteiros.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2331720"/>
          </a:xfrm>
          <a:prstGeom prst="roundRect">
            <a:avLst>
              <a:gd name="adj" fmla="val 3137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turma: vetor[1..3] de Aluno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turma[1].nome  &lt;- "Ana"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turma[1].idade &lt;- 16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turma[2].nome  &lt;- "Bruno"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3971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registros, visualmente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guarda 3 registros Aluno — um Aluno inteiro em cada posição.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5B9DF9">
              <a:alpha val="15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9D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83080" y="2350008"/>
            <a:ext cx="0" cy="256032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0604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" y="282549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8096" y="33009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096" y="37764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86200" y="1965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5B9DF9">
              <a:alpha val="15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9D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turma[2]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350008"/>
            <a:ext cx="0" cy="256032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60604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57016" y="282549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57016" y="33009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57016" y="37764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75120" y="1965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5B9DF9">
              <a:alpha val="15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9D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60920" y="2350008"/>
            <a:ext cx="0" cy="256032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60604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45936" y="282549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"Caio"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45936" y="33009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45936" y="37764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5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44439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do vetor não guarda um valor solto — guarda um Aluno inteiro, com todos os seus campos.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Acessando um registro dentro do vetor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escolhe a caixa. O ponto escolhe o campo dentro dela.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8B93A8">
              <a:alpha val="15000"/>
            </a:srgbClr>
          </a:solidFill>
          <a:ln w="12700">
            <a:solidFill>
              <a:srgbClr val="8B9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8B93A8">
              <a:alpha val="15000"/>
            </a:srgbClr>
          </a:solidFill>
          <a:ln w="12700">
            <a:solidFill>
              <a:srgbClr val="8B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turma[3]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21031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5B84C">
              <a:alpha val="15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turma[2]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28900" y="2487168"/>
            <a:ext cx="0" cy="219456"/>
          </a:xfrm>
          <a:prstGeom prst="line">
            <a:avLst/>
          </a:prstGeom>
          <a:noFill/>
          <a:ln w="19050">
            <a:solidFill>
              <a:srgbClr val="F5B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06624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29443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51129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07822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98848" y="3364992"/>
            <a:ext cx="566928" cy="566928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12080" y="2706624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2871216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14416" y="2871216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22" name="Shape 20"/>
          <p:cNvSpPr/>
          <p:nvPr/>
        </p:nvSpPr>
        <p:spPr>
          <a:xfrm>
            <a:off x="5815584" y="2871216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3" name="Text 21"/>
          <p:cNvSpPr/>
          <p:nvPr/>
        </p:nvSpPr>
        <p:spPr>
          <a:xfrm>
            <a:off x="5468112" y="3090672"/>
            <a:ext cx="28712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turma[2].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"Bruno"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turma[2].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&lt;- 17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turma[2].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&lt;- 6.0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ECF8E">
              <a:alpha val="18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mais limpo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94760" cy="2880360"/>
          </a:xfrm>
          <a:prstGeom prst="roundRect">
            <a:avLst>
              <a:gd name="adj" fmla="val 2857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paralelos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45059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2670048"/>
            <a:ext cx="27340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nomes[1]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idades[1]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notas[1]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vetores para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manter em sincronia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3794760" cy="2880360"/>
          </a:xfrm>
          <a:prstGeom prst="roundRect">
            <a:avLst>
              <a:gd name="adj" fmla="val 2857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registros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74920" y="228600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6088" y="245059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77256" y="245059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8424" y="245059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8" name="Text 16"/>
          <p:cNvSpPr/>
          <p:nvPr/>
        </p:nvSpPr>
        <p:spPr>
          <a:xfrm>
            <a:off x="5330952" y="2670048"/>
            <a:ext cx="27340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turma[1].nome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turma[1].idade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turma[1].nota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vetor, tudo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já vem junto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5B84C">
              <a:alpha val="18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· 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prepara você para OOP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 agrupar dados sob uma entidade não termina aqui.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834640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2834640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1" name="Shape 9"/>
          <p:cNvSpPr/>
          <p:nvPr/>
        </p:nvSpPr>
        <p:spPr>
          <a:xfrm>
            <a:off x="1426464" y="2834640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054096"/>
            <a:ext cx="27340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Aluno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24528" y="3063240"/>
            <a:ext cx="694944" cy="694944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304495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80060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pra frente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2670048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2834640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7256" y="2834640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5678424" y="2834640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1" name="Text 19"/>
          <p:cNvSpPr/>
          <p:nvPr/>
        </p:nvSpPr>
        <p:spPr>
          <a:xfrm>
            <a:off x="5330952" y="3054096"/>
            <a:ext cx="27340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Aluno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métodos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71446" cy="292608"/>
          </a:xfrm>
          <a:prstGeom prst="roundRect">
            <a:avLst>
              <a:gd name="adj" fmla="val 18750"/>
            </a:avLst>
          </a:prstGeom>
          <a:solidFill>
            <a:srgbClr val="F5B84C">
              <a:alpha val="18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971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· BANCO DE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prepara você para tabelas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de registros parece muito com uma tabela de banco de dados.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164592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31920"/>
            <a:ext cx="8046720" cy="777240"/>
          </a:xfrm>
          <a:prstGeom prst="roundRect">
            <a:avLst>
              <a:gd name="adj" fmla="val 10588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</a:t>
            </a:r>
            <a:pPr algn="ctr"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linha da tabela      </a:t>
            </a:r>
            <a:pPr algn="ctr" indent="0" marL="0">
              <a:buNone/>
            </a:pPr>
            <a:r>
              <a:rPr lang="en-US" sz="13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pPr algn="ctr"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coluna      </a:t>
            </a:r>
            <a:pPr algn="ctr" indent="0" marL="0">
              <a:buNone/>
            </a:pPr>
            <a:r>
              <a:rPr lang="en-US" sz="1300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 de registros</a:t>
            </a:r>
            <a:pPr algn="ctr"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tabela inteira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47242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247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CLÁSSICO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clássicos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92224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campo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162763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aluno em vez de aluno.nome — o registro inteiro não é um texto.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33472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4688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um com muitos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24688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turma como se fosse um Aluno só, sem o índice.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74720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índice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60520" y="33101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turma[1] e ler turma[2] sem perceber.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51376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1513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a sincronia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415137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a usar vetores separados e esquecer de atualizar um deles.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Sonda: rastreando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 que acontece linha a linha ao preencher um Aluno.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32826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aluno: Aluno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aluno.nome  &lt;- "Ana"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aluno.idade &lt;- 16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aluno.media &lt;- 8.5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2084832"/>
          <a:ext cx="3977640" cy="1691640"/>
        </p:xfrm>
        <a:graphic>
          <a:graphicData uri="http://schemas.openxmlformats.org/drawingml/2006/table">
            <a:tbl>
              <a:tblPr/>
              <a:tblGrid>
                <a:gridCol w="822960"/>
                <a:gridCol w="1234440"/>
                <a:gridCol w="19202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 criado (vazio)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3913632"/>
            <a:ext cx="8046720" cy="777240"/>
          </a:xfrm>
          <a:prstGeom prst="roundRect">
            <a:avLst>
              <a:gd name="adj" fmla="val 10588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023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Perceba: o registro existe desde a linha 1, mas seus campos só ganham valor um por um. Nada aparece “pronto” de uma vez.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3ECF8E">
              <a:alpha val="15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mostrar um Aluno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registro Aluno (nome, idade, media). Declare uma variável, preencha os três campos com leia() e mostre tudo com escreva().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 = registro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caractere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 inteiro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media: real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5B84C">
              <a:alpha val="15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Produto com cálculo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registro Produto (nome, preco, quantidade). Preencha os campos e calcule o total = preco * quantidade.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Produto = registro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caractere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preco: real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quantidade: inteiro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&lt;- produto.preco * produto.quantidade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5B9DF9">
              <a:alpha val="15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9D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INTERMEDIÁRIO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3 Alunos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vetor turma[1..3] de Aluno. Use para preencher os três alunos e depois outro para mostrar nome e média de cada um.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turma: vetor[1..3] de Aluno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3 faca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leia(turma[i].nome)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leia(turma[i].idade)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leia(turma[i].media)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F6B5B">
              <a:alpha val="1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do Dia 3: mini boletim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3 alunos com nome e media. Para cada um, mostre a situação: media &gt;= 7 aprovado, media &gt;= 5 recuperação, senão reprovado.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turma[i].media &gt;= 7 entao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escreva("Aprovado")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senaose turma[i].media &gt;= 5 entao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escreva("Recuperação")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escreva("Reprovado")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3840480"/>
          </a:xfrm>
          <a:prstGeom prst="ellipse">
            <a:avLst/>
          </a:prstGeom>
          <a:solidFill>
            <a:srgbClr val="3ECF8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ECF8E">
              <a:alpha val="18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 pra casa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pra se testar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registro é melhor que várias variáveis soltas?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campo?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acessamos um campo dentro de um registro?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um Aluno e um vetor de Alunos?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registro prepara o caminho para OOP e bancos de dados?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9319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guarda vários valores. Registro guarda várias informações sobre a mesma coisa. Vetor de registros guarda várias coisas completas.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Registros e Dados Estruturados</dc:title>
  <dc:subject>PptxGenJS Presentation</dc:subject>
  <dc:creator>SENAC</dc:creator>
  <cp:lastModifiedBy>SENAC</cp:lastModifiedBy>
  <cp:revision>1</cp:revision>
  <dcterms:created xsi:type="dcterms:W3CDTF">2026-07-02T17:29:44Z</dcterms:created>
  <dcterms:modified xsi:type="dcterms:W3CDTF">2026-07-02T17:29:44Z</dcterms:modified>
</cp:coreProperties>
</file>