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182880"/>
            <a:ext cx="28346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2A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 ·  PORTUGOL  ·  FUNÇÕES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7830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mesmo código se repete em lugares diferentes.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nome. Uma tarefa. Você chama quando precisar.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a função resolve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FUNÇÃO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212848"/>
            <a:ext cx="3291840" cy="2148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media1 &lt;- (n1+n2+n3)/3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escreva(media1)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media2 &lt;- (n4+n5+n6)/3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escreva(media2)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media3 &lt;- (n7+n8+n9)/3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escreva(media3)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553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cálculo, colado 3 vezes.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783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FUNÇÃO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121408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2212848"/>
            <a:ext cx="3291840" cy="2148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media(a,b,c): real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retorne (a+b+c)/3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escreva(media(n1,n2,n3))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escreva(media(n4,n5,n6))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escreva(media(n7,n8,n9))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92040" y="4553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bloco. Quantas chamadas quiser.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é um bloco com nome, entrada e saída</a:t>
            </a:r>
            <a:endParaRPr lang="en-US" sz="2700" dirty="0"/>
          </a:p>
        </p:txBody>
      </p:sp>
      <p:pic>
        <p:nvPicPr>
          <p:cNvPr id="4" name="Image 0" descr="icons/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659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2EEF9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21671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560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350008" y="2551176"/>
            <a:ext cx="219456" cy="201168"/>
          </a:xfrm>
          <a:prstGeom prst="rightArrow">
            <a:avLst/>
          </a:prstGeom>
          <a:solidFill>
            <a:srgbClr val="7E84AD"/>
          </a:solidFill>
          <a:ln/>
        </p:spPr>
      </p:sp>
      <p:sp>
        <p:nvSpPr>
          <p:cNvPr id="9" name="Shape 6"/>
          <p:cNvSpPr/>
          <p:nvPr/>
        </p:nvSpPr>
        <p:spPr>
          <a:xfrm>
            <a:off x="2587752" y="19659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79192" y="21671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79192" y="2560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b, c)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9120" y="2551176"/>
            <a:ext cx="219456" cy="201168"/>
          </a:xfrm>
          <a:prstGeom prst="rightArrow">
            <a:avLst/>
          </a:prstGeom>
          <a:solidFill>
            <a:srgbClr val="7E84AD"/>
          </a:solidFill>
          <a:ln/>
        </p:spPr>
      </p:sp>
      <p:sp>
        <p:nvSpPr>
          <p:cNvPr id="13" name="Shape 10"/>
          <p:cNvSpPr/>
          <p:nvPr/>
        </p:nvSpPr>
        <p:spPr>
          <a:xfrm>
            <a:off x="4626864" y="19659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18304" y="21671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18304" y="2560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28232" y="2551176"/>
            <a:ext cx="219456" cy="201168"/>
          </a:xfrm>
          <a:prstGeom prst="rightArrow">
            <a:avLst/>
          </a:prstGeom>
          <a:solidFill>
            <a:srgbClr val="7E84AD"/>
          </a:solidFill>
          <a:ln/>
        </p:spPr>
      </p:sp>
      <p:sp>
        <p:nvSpPr>
          <p:cNvPr id="17" name="Shape 14"/>
          <p:cNvSpPr/>
          <p:nvPr/>
        </p:nvSpPr>
        <p:spPr>
          <a:xfrm>
            <a:off x="6665976" y="19659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57416" y="21671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57416" y="2560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(a+b+c)/3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657600"/>
            <a:ext cx="80010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7240" y="38221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média(a, b, c): real  →  retorne (a+b+c)/3  →  fimfunção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" y="4251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chama média(8,5,9) e recebe um valor de volta — como numa calculadora.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QUE IMPORTA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todo bloco devolve um valor</a:t>
            </a:r>
            <a:endParaRPr lang="en-US" sz="2700" dirty="0"/>
          </a:p>
        </p:txBody>
      </p:sp>
      <p:pic>
        <p:nvPicPr>
          <p:cNvPr id="4" name="Image 0" descr="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83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2121408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procedimento saudar(nome: caractere)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escreva("Olá, ", nome)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fimprocedimento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uma ação. Não devolve nada.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2040" y="1783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92040" y="2121408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8348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dobro(n: real): real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retorne n*2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 devolve um valor com retorne.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DECLARAR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procedimento é chamado, não usado numa expressão</a:t>
            </a:r>
            <a:endParaRPr lang="en-US" sz="2700" dirty="0"/>
          </a:p>
        </p:txBody>
      </p:sp>
      <p:pic>
        <p:nvPicPr>
          <p:cNvPr id="4" name="Image 0" descr="icons/layer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4206240" cy="2926080"/>
          </a:xfrm>
          <a:prstGeom prst="roundRect">
            <a:avLst>
              <a:gd name="adj" fmla="val 2500"/>
            </a:avLst>
          </a:prstGeom>
          <a:solidFill>
            <a:srgbClr val="D6D8EA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965960"/>
            <a:ext cx="3749040" cy="24688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procedimento nome(param: tipo)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comandos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fimprocedimento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chamando: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nome(valor)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834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procedimento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83480" y="1984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 reservada — não devolve valor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8348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nome(param: tipo)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83480" y="2898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parâmetros que ele recebe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834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fimprocedimento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3813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bloco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DECLARAR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função tem tipo de retorno e um retorne</a:t>
            </a:r>
            <a:endParaRPr lang="en-US" sz="2700" dirty="0"/>
          </a:p>
        </p:txBody>
      </p:sp>
      <p:pic>
        <p:nvPicPr>
          <p:cNvPr id="4" name="Image 0" descr="icons/layer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4206240" cy="2926080"/>
          </a:xfrm>
          <a:prstGeom prst="roundRect">
            <a:avLst>
              <a:gd name="adj" fmla="val 2500"/>
            </a:avLst>
          </a:prstGeom>
          <a:solidFill>
            <a:srgbClr val="D6D8EA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74520"/>
            <a:ext cx="3749040" cy="2651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nome(param: tipo): tipo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comandos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retorne valor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chamando: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nome(valor)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834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... : tipo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83480" y="1984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depois dos parâmetros é o que ela devolve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8348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retorne valor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83480" y="2898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a função e devolve o resultado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834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nome(valor)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983480" y="3813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 pode ser guardado numa variável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argumento da chamada preenche o parâmetro</a:t>
            </a:r>
            <a:endParaRPr lang="en-US" sz="2700" dirty="0"/>
          </a:p>
        </p:txBody>
      </p:sp>
      <p:pic>
        <p:nvPicPr>
          <p:cNvPr id="4" name="Image 0" descr="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828800"/>
            <a:ext cx="3566160" cy="1554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dobro(n: real): real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retorne n*2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escreva(dobro(5))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17720" y="2423160"/>
            <a:ext cx="457200" cy="274320"/>
          </a:xfrm>
          <a:prstGeom prst="rightArrow">
            <a:avLst/>
          </a:prstGeom>
          <a:solidFill>
            <a:srgbClr val="7E84AD"/>
          </a:solidFill>
          <a:ln/>
        </p:spPr>
      </p:sp>
      <p:sp>
        <p:nvSpPr>
          <p:cNvPr id="8" name="Shape 5"/>
          <p:cNvSpPr/>
          <p:nvPr/>
        </p:nvSpPr>
        <p:spPr>
          <a:xfrm>
            <a:off x="5212080" y="164592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6A623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4924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recebe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34924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do parâmetro é local à função.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7033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38404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é o valor que você manda na chamada. Parâmetro é o nome que a função usa para se referir a ele — só existem dentro do corpo da função.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retorne manda o valor de volta pra quem chamou</a:t>
            </a:r>
            <a:endParaRPr lang="en-US" sz="2700" dirty="0"/>
          </a:p>
        </p:txBody>
      </p:sp>
      <p:pic>
        <p:nvPicPr>
          <p:cNvPr id="4" name="Image 0" descr="icons/un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DIRETO NUMA EXPRESSÃO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286000"/>
            <a:ext cx="3291840" cy="1874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dobro(n: real): real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retorne n*2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escreva(dobro(5)+1)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escreve 11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64592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RETORNE, NÃO HÁ VALOR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92040" y="21488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83480" y="2286000"/>
            <a:ext cx="3291840" cy="1874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dobro(n: real): real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&lt;- n*2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esqueceu o retorne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escreva(dobro(5))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 / vazio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VALOR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padrão, o parâmetro é uma cópia</a:t>
            </a:r>
            <a:endParaRPr lang="en-US" sz="2700" dirty="0"/>
          </a:p>
        </p:txBody>
      </p:sp>
      <p:pic>
        <p:nvPicPr>
          <p:cNvPr id="4" name="Image 0" descr="icons/co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FUNÇÃO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2167128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331720"/>
            <a:ext cx="3291840" cy="1737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procedimento tenta(x: real)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&lt;- x*2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escreva(x)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mostra 10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fimprocedimento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6459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FUNÇÃO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92040" y="2167128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83480" y="2331720"/>
            <a:ext cx="3291840" cy="1737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&lt;- 5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tenta(n)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ainda mostra 5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é uma cópia de n. Mudar x dentro da função não muda n lá fora.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REFERÊNCIA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faz o parâmetro apontar pro original</a:t>
            </a:r>
            <a:endParaRPr lang="en-US" sz="2700" dirty="0"/>
          </a:p>
        </p:txBody>
      </p:sp>
      <p:pic>
        <p:nvPicPr>
          <p:cNvPr id="4" name="Image 0" descr="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VAR — CÓPIA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2167128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286000"/>
            <a:ext cx="3291840" cy="1783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procedimento dobra(x: real)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&lt;- x*2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fimprocedimento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&lt;- 5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dobra(n)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escreva(n)  // 5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6459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VAR — REFERÊNCIA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92040" y="2167128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83480" y="2286000"/>
            <a:ext cx="3291840" cy="1783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procedimento dobra(var x: real)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&lt;- x*2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fimprocedimento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&lt;- 5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dobra(n)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escreva(n)  // 10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92040" y="4315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conecta x diretamente a n — mudar x é mudar 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formas de passar um parâmetro</a:t>
            </a:r>
            <a:endParaRPr lang="en-US" sz="2700" dirty="0"/>
          </a:p>
        </p:txBody>
      </p:sp>
      <p:pic>
        <p:nvPicPr>
          <p:cNvPr id="4" name="Image 0" descr="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25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7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REFERÊNCIA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Sintaxe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n: real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 n: real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chega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cópia do 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endereço do original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Muda o original?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25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7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 e devolver um 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alterar algo que já existe (trocar, atualizar)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uma variável existe</a:t>
            </a:r>
            <a:endParaRPr lang="en-US" sz="2700" dirty="0"/>
          </a:p>
        </p:txBody>
      </p:sp>
      <p:pic>
        <p:nvPicPr>
          <p:cNvPr id="4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8046720" cy="1417320"/>
          </a:xfrm>
          <a:prstGeom prst="roundRect">
            <a:avLst>
              <a:gd name="adj" fmla="val 5161"/>
            </a:avLst>
          </a:prstGeom>
          <a:solidFill>
            <a:srgbClr val="F3F4FA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63040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21671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declarada dentro da função — nasce e morre a cada chamada, invisível lá fora.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0" y="18745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f()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x: real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8046720" cy="1417320"/>
          </a:xfrm>
          <a:prstGeom prst="roundRect">
            <a:avLst>
              <a:gd name="adj" fmla="val 5161"/>
            </a:avLst>
          </a:prstGeom>
          <a:solidFill>
            <a:srgbClr val="F3F4FA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547872"/>
            <a:ext cx="502920" cy="502920"/>
          </a:xfrm>
          <a:prstGeom prst="ellipse">
            <a:avLst/>
          </a:prstGeom>
          <a:solidFill>
            <a:srgbClr val="1A7F5A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46304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63040" y="37673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declarada fora de qualquer função — visível e compartilhada por todo o programa.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212080" y="34747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total: real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f()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&lt;- total+1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CLÁSSICO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maioria dos bugs em função é esquecer uma peça</a:t>
            </a:r>
            <a:endParaRPr lang="en-US" sz="2700" dirty="0"/>
          </a:p>
        </p:txBody>
      </p:sp>
      <p:pic>
        <p:nvPicPr>
          <p:cNvPr id="4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85623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ESQUECER O RETORNE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2377440"/>
            <a:ext cx="2221992" cy="1234440"/>
          </a:xfrm>
          <a:prstGeom prst="roundRect">
            <a:avLst>
              <a:gd name="adj" fmla="val 5926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487168"/>
            <a:ext cx="2039112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f(x): real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&lt;- x*2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retorne, a função não devolve nada — o resultado se perde.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73552" y="16916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56432" y="185623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CONFUNDIR PARÂMETRO E ARGUMENTO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56432" y="2377440"/>
            <a:ext cx="2221992" cy="1234440"/>
          </a:xfrm>
          <a:prstGeom prst="roundRect">
            <a:avLst>
              <a:gd name="adj" fmla="val 5926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47872" y="2487168"/>
            <a:ext cx="2039112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dobro(x)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aqui é 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argumento, não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parâmetro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456432" y="370332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dentro da função pode ser diferente do nome fora.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98464" y="16916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81344" y="185623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ESPERAR QUE VALOR MUDE O ORIGINAL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81344" y="2377440"/>
            <a:ext cx="2221992" cy="1234440"/>
          </a:xfrm>
          <a:prstGeom prst="roundRect">
            <a:avLst>
              <a:gd name="adj" fmla="val 5926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272784" y="2487168"/>
            <a:ext cx="2039112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procedimento f(x: real)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&lt;- x*2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fimprocedimento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81344" y="370332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var, x é cópia. Pra alterar o original, use var.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 · TESTE DE MESA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Acompanhando uma chamada por valor</a:t>
            </a:r>
            <a:endParaRPr lang="en-US" sz="2700" dirty="0"/>
          </a:p>
        </p:txBody>
      </p:sp>
      <p:pic>
        <p:nvPicPr>
          <p:cNvPr id="4" name="Image 0" descr="icons/tabl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783080"/>
            <a:ext cx="35661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triplo(n: real): real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&lt;- n*3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retorne 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&lt;- 4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&lt;- triplo(a)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45920"/>
          <a:ext cx="393192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antes da chamada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dentro da função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→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depois da chamada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(não mudou)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(retorno)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por que a fica 4 mesmo depois da chamada?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 · TESTE DE MESA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código, com e sem var</a:t>
            </a:r>
            <a:endParaRPr lang="en-US" sz="2700" dirty="0"/>
          </a:p>
        </p:txBody>
      </p:sp>
      <p:pic>
        <p:nvPicPr>
          <p:cNvPr id="4" name="Image 0" descr="icons/tabl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192024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25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 real (valor)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n: real (referência)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dentro da função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→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→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depois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88620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3F4FA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77240" y="4023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não está no que acontece dentro da função — é sempre n &lt;- n*2. A diferença é o que acontece com x lá fora depois que a função termina.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 · 10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dobro</a:t>
            </a:r>
            <a:endParaRPr lang="en-US" sz="2500" dirty="0"/>
          </a:p>
        </p:txBody>
      </p:sp>
      <p:pic>
        <p:nvPicPr>
          <p:cNvPr id="4" name="Image 0" descr="icons/lis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3794760" cy="2926080"/>
          </a:xfrm>
          <a:prstGeom prst="roundRect">
            <a:avLst>
              <a:gd name="adj" fmla="val 2500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28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função chamada dobro que recebe um número real.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deve calcular o dobro desse número.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retorne para devolver o resultado.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programa principal, leia um número e escreva o dobro.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6459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ESPERADA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92040" y="2167128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2286000"/>
            <a:ext cx="329184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dobro(n: real): real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retorne n*2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leia(x)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escreva(dobro(x))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 · 15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IMC</a:t>
            </a:r>
            <a:endParaRPr lang="en-US" sz="2500" dirty="0"/>
          </a:p>
        </p:txBody>
      </p:sp>
      <p:pic>
        <p:nvPicPr>
          <p:cNvPr id="4" name="Image 0" descr="icons/lis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3794760" cy="2926080"/>
          </a:xfrm>
          <a:prstGeom prst="roundRect">
            <a:avLst>
              <a:gd name="adj" fmla="val 2500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28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função imc que recebe peso e altura.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o IMC: peso / (altura*altura).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Devolva o resultado com retorne.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programa principal, leia peso e altura e escreva o IMC direto na expressão de escreva.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6459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CECE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ESPERADA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92040" y="2167128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2286000"/>
            <a:ext cx="329184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imc(peso,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altura: real): real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retorne peso/(altura*altura)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leia(p, a)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escreva("IMC: ", imc(p,a))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 · 10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Procedimento dobra (por referência)</a:t>
            </a:r>
            <a:endParaRPr lang="en-US" sz="2500" dirty="0"/>
          </a:p>
        </p:txBody>
      </p:sp>
      <p:pic>
        <p:nvPicPr>
          <p:cNvPr id="4" name="Image 0" descr="icons/lis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3794760" cy="2926080"/>
          </a:xfrm>
          <a:prstGeom prst="roundRect">
            <a:avLst>
              <a:gd name="adj" fmla="val 2500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28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procedimento dobra que recebe var x: real.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dele, multiplique x por 2.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use retorne — é um procedimento.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programa principal, leia um número, chame dobra e mostre a variável original depois da chamada.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6459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ESPERADA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92040" y="2167128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2286000"/>
            <a:ext cx="329184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procedimento dobra(var x: real)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&lt;- x*2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fimprocedimento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dobra(n)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escreva(n)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15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Procedimento troca (swap)</a:t>
            </a:r>
            <a:endParaRPr lang="en-US" sz="2500" dirty="0"/>
          </a:p>
        </p:txBody>
      </p:sp>
      <p:pic>
        <p:nvPicPr>
          <p:cNvPr id="4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3794760" cy="2926080"/>
          </a:xfrm>
          <a:prstGeom prst="roundRect">
            <a:avLst>
              <a:gd name="adj" fmla="val 2500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28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procedimento troca que recebe var a e var b: real.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os valores de a e b (use uma variável auxiliar).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programa principal, leia dois números, chame troca e mostre os dois depois.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os valores realmente inverteram.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6459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— VARIÁVEL AUXILIAR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92040" y="2167128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2286000"/>
            <a:ext cx="329184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procedimento troca(var a,b: real)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aux &lt;- a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&lt;- b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 &lt;- aux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fimprocedimento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 · CONFIRAM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mesa — Exercício 4 (troca)</a:t>
            </a:r>
            <a:endParaRPr lang="en-US" sz="2400" dirty="0"/>
          </a:p>
        </p:txBody>
      </p:sp>
      <p:pic>
        <p:nvPicPr>
          <p:cNvPr id="4" name="Image 0" descr="icons/tabl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Entradas: a=3, b=8. Preencham cada coluna a cada passo.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8046720" cy="22860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8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aux &lt;-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&lt;-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&lt;- aux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Gabarito: a=8 · b=3 — os valores realmente trocaram de lugar.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5 · 25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Desconto: função + procedimento juntos</a:t>
            </a:r>
            <a:endParaRPr lang="en-US" sz="2500" dirty="0"/>
          </a:p>
        </p:txBody>
      </p:sp>
      <p:pic>
        <p:nvPicPr>
          <p:cNvPr id="4" name="Image 0" descr="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3F4FA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60934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Combinem os dois mundos: uma função que calcula (por valor) e um procedimento que altera (por referência) — como num sistema real de caixa.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3794760" cy="2240280"/>
          </a:xfrm>
          <a:prstGeom prst="roundRect">
            <a:avLst>
              <a:gd name="adj" fmla="val 3265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5786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907792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calcula_desconto(preco, perc): real — devolve o valor do desconto.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aplica_desconto(var preco, perc: real) — desconta direto no preço.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principal: leia o preço, mostre o desconto, aplique e mostre o preço final.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2423160"/>
            <a:ext cx="3931920" cy="2240280"/>
          </a:xfrm>
          <a:prstGeom prst="roundRect">
            <a:avLst>
              <a:gd name="adj" fmla="val 3265"/>
            </a:avLst>
          </a:prstGeom>
          <a:solidFill>
            <a:srgbClr val="1E2044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2560320"/>
            <a:ext cx="365760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calcula_desconto(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preco, perc: real): real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retorne preco*perc/100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fimfunção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procedimento aplica_desconto(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preco: real, perc: real)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 &lt;- preco -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calcula_desconto(preco,perc)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fimprocedimento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800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quem muda o preço é o procedimento, porque recebe var — a função só calcula.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de hoje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3F4FA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tem nome, parâmetros e (às vezes) retorno.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executa; função devolve um valor com retorne.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padrão, parâmetro é uma cópia — por valor.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conecta o parâmetro ao original — por referência.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local só existe dentro da função; global é compartilhada.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2EEF9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21488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entre procedimento e função?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quando colocamos var antes do parâmetro?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função esquecer o retorne quebra o programa?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local sobrevive depois que a função termina?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função, o código deixou de se repetir — passou a se chamar.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Funções</dc:title>
  <dc:subject>PptxGenJS Presentation</dc:subject>
  <dc:creator>Lucas</dc:creator>
  <cp:lastModifiedBy>Lucas</cp:lastModifiedBy>
  <cp:revision>1</cp:revision>
  <dcterms:created xsi:type="dcterms:W3CDTF">2026-07-01T16:15:41Z</dcterms:created>
  <dcterms:modified xsi:type="dcterms:W3CDTF">2026-07-01T16:15:41Z</dcterms:modified>
</cp:coreProperties>
</file>